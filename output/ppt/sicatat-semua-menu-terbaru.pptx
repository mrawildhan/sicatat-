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9081de1f554b00" /><Relationship Type="http://schemas.openxmlformats.org/officeDocument/2006/relationships/extended-properties" Target="/docProps/app.xml" Id="Ra0879e3da700460c" /><Relationship Type="http://schemas.openxmlformats.org/officeDocument/2006/relationships/officeDocument" Target="/ppt/presentation.xml" Id="R44b23dbf816f45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fc739995eb4387"/>
  </p:sldMasterIdLst>
  <p:notesMasterIdLst>
    <p:notesMasterId xmlns:r="http://schemas.openxmlformats.org/officeDocument/2006/relationships" r:id="Ra01509e6f9e94986"/>
  </p:notesMasterIdLst>
  <p:sldIdLst>
    <p:sldId xmlns:r="http://schemas.openxmlformats.org/officeDocument/2006/relationships" id="256" r:id="Rf0cb01f947444c9e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f88b1b04a84e0f" /><Relationship Type="http://schemas.openxmlformats.org/officeDocument/2006/relationships/slideMaster" Target="/ppt/slideMasters/slideMaster1.xml" Id="R16fc739995eb4387" /><Relationship Type="http://schemas.openxmlformats.org/officeDocument/2006/relationships/notesMaster" Target="/ppt/notesMasters/notesMaster1.xml" Id="Ra01509e6f9e94986" /><Relationship Type="http://schemas.openxmlformats.org/officeDocument/2006/relationships/presProps" Target="/ppt/presProps.xml" Id="R0b3a07161e144bae" /><Relationship Type="http://schemas.openxmlformats.org/officeDocument/2006/relationships/tableStyles" Target="/ppt/tableStyles.xml" Id="R9d5f295bcc1b4973" /><Relationship Type="http://schemas.openxmlformats.org/officeDocument/2006/relationships/slide" Target="/ppt/slides/slide1.xml" Id="Rf0cb01f947444c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7db9148b9346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b063ad19d74673" /><Relationship Type="http://schemas.openxmlformats.org/officeDocument/2006/relationships/notesMaster" Target="/ppt/notesMasters/notesMaster1.xml" Id="R1b7d632de4ba4c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screenshot langsung website https://sicatat-5l5.pages.dev/?versi=2-8-34-mom-english pada 13 September 2026. Setiap panel menampilkan satu menu utama. Submenu Suhu dan Administrasi dirangkum pada keterangan. Data contoh yang terlihat berasal dari aplikasi.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dffccbc08445c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a65cb9dfad4d69" /><Relationship Type="http://schemas.openxmlformats.org/officeDocument/2006/relationships/slideLayout" Target="/ppt/slideLayouts/slideLayout1.xml" Id="Ra9cafd6a5b094a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cafd6a5b094a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da676212284008" /><Relationship Type="http://schemas.openxmlformats.org/officeDocument/2006/relationships/image" Target="/ppt/media/image.jpeg" Id="R959bb1f938464338" /><Relationship Type="http://schemas.openxmlformats.org/officeDocument/2006/relationships/image" Target="/ppt/media/image2.jpeg" Id="R92c287c54a574188" /><Relationship Type="http://schemas.openxmlformats.org/officeDocument/2006/relationships/image" Target="/ppt/media/image3.jpeg" Id="Red6d5c8a08e64bf7" /><Relationship Type="http://schemas.openxmlformats.org/officeDocument/2006/relationships/image" Target="/ppt/media/image4.jpeg" Id="R82aa4748e3f34234" /><Relationship Type="http://schemas.openxmlformats.org/officeDocument/2006/relationships/image" Target="/ppt/media/image5.jpeg" Id="Rd75ded15a3bc4a1b" /><Relationship Type="http://schemas.openxmlformats.org/officeDocument/2006/relationships/image" Target="/ppt/media/image6.jpeg" Id="R831d8ae86ef8470e" /><Relationship Type="http://schemas.openxmlformats.org/officeDocument/2006/relationships/image" Target="/ppt/media/image7.jpeg" Id="Rffd2b86bb56441ed" /><Relationship Type="http://schemas.openxmlformats.org/officeDocument/2006/relationships/image" Target="/ppt/media/image8.jpeg" Id="Rda6d7279e5d34ad4" /><Relationship Type="http://schemas.openxmlformats.org/officeDocument/2006/relationships/image" Target="/ppt/media/image9.jpeg" Id="R1cad71155f694888" /><Relationship Type="http://schemas.openxmlformats.org/officeDocument/2006/relationships/image" Target="/ppt/media/image10.jpeg" Id="R4132891543544742" /><Relationship Type="http://schemas.openxmlformats.org/officeDocument/2006/relationships/image" Target="/ppt/media/image11.jpeg" Id="Rcc1f68d85ab04feb" /><Relationship Type="http://schemas.openxmlformats.org/officeDocument/2006/relationships/image" Target="/ppt/media/image12.jpeg" Id="R634c7c6baf204376" /><Relationship Type="http://schemas.openxmlformats.org/officeDocument/2006/relationships/image" Target="/ppt/media/image13.jpeg" Id="R3db9024712144e0b" /><Relationship Type="http://schemas.openxmlformats.org/officeDocument/2006/relationships/image" Target="/ppt/media/image14.jpeg" Id="Rb5abbf0bb2ee40cf" /><Relationship Type="http://schemas.openxmlformats.org/officeDocument/2006/relationships/image" Target="/ppt/media/image15.jpeg" Id="R2473313525a14e41" /><Relationship Type="http://schemas.openxmlformats.org/officeDocument/2006/relationships/notesSlide" Target="/ppt/notesSlides/notesSlide1.xml" Id="Rfa9b31557290411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E816F99-0927-4111-A758-1148039D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4D3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260BE4-4138-4E39-8036-84501C81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9075"/>
            <a:ext cx="1333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Fitur &amp; Menu SICATAT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E42F8C-B38E-4CEE-BBDB-1A1BB3C4E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85800"/>
            <a:ext cx="1428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C6E1D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6E1D4"/>
                </a:solidFill>
                <a:latin typeface="Arial"/>
                <a:ea typeface="Arial"/>
                <a:cs typeface="Arial"/>
              </a:rPr>
              <a:t>Operasional, referensi, serta pengaturan dan bantuan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4CB888-E329-498B-87B0-88C651C75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19200"/>
            <a:ext cx="3429000" cy="2686050"/>
          </a:xfrm>
          <a:prstGeom xmlns:a="http://schemas.openxmlformats.org/drawingml/2006/main" prst="roundRect">
            <a:avLst>
              <a:gd name="adj" fmla="val 28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9bb1f938464338"/>
          <a:stretch xmlns:a="http://schemas.openxmlformats.org/drawingml/2006/main"/>
        </p:blipFill>
        <p:spPr>
          <a:xfrm xmlns:a="http://schemas.openxmlformats.org/drawingml/2006/main">
            <a:off x="439447" y="1333500"/>
            <a:ext cx="1140406" cy="24574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4509C2-A416-4B5F-B330-23AF2E77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390650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3786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3786A"/>
                </a:solidFill>
                <a:latin typeface="Arial"/>
                <a:ea typeface="Arial"/>
                <a:cs typeface="Arial"/>
              </a:rPr>
              <a:t>UMUM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12E66C-7426-4A8A-977D-7DBF51174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666875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3A3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A30"/>
                </a:solidFill>
                <a:latin typeface="Arial"/>
                <a:ea typeface="Arial"/>
                <a:cs typeface="Arial"/>
              </a:rPr>
              <a:t>Beranda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DA7866-21E8-4F18-8212-6C093B515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333625"/>
            <a:ext cx="1895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D655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D655C"/>
                </a:solidFill>
                <a:latin typeface="Arial"/>
                <a:ea typeface="Arial"/>
                <a:cs typeface="Arial"/>
              </a:rPr>
              <a:t>Akses cepat ke kelompok Operasional, Referensi, dan bantuan.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E74B5F-A5E1-4A6C-9D23-17785249A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219200"/>
            <a:ext cx="3429000" cy="2686050"/>
          </a:xfrm>
          <a:prstGeom xmlns:a="http://schemas.openxmlformats.org/drawingml/2006/main" prst="roundRect">
            <a:avLst>
              <a:gd name="adj" fmla="val 28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c287c54a574188"/>
          <a:stretch xmlns:a="http://schemas.openxmlformats.org/drawingml/2006/main"/>
        </p:blipFill>
        <p:spPr>
          <a:xfrm xmlns:a="http://schemas.openxmlformats.org/drawingml/2006/main">
            <a:off x="4020847" y="1333500"/>
            <a:ext cx="1140406" cy="24574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868B69-BA20-46F0-9513-1E791754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390650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3786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3786A"/>
                </a:solidFill>
                <a:latin typeface="Arial"/>
                <a:ea typeface="Arial"/>
                <a:cs typeface="Arial"/>
              </a:rPr>
              <a:t>OPERASIONAL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51C767-D98E-45EE-B6EB-69AA7610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666875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3A3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A30"/>
                </a:solidFill>
                <a:latin typeface="Arial"/>
                <a:ea typeface="Arial"/>
                <a:cs typeface="Arial"/>
              </a:rPr>
              <a:t>Suhu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1AD0B1-2608-412B-A8D8-9A4A49B26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333625"/>
            <a:ext cx="1895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D655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D655C"/>
                </a:solidFill>
                <a:latin typeface="Arial"/>
                <a:ea typeface="Arial"/>
                <a:cs typeface="Arial"/>
              </a:rPr>
              <a:t>Sheet inspeksi, monitoring, suhu tinggi, sinkronisasi, dan laporan periode.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D4E325-1ECA-41F7-84D8-91E36D85C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219200"/>
            <a:ext cx="3429000" cy="2686050"/>
          </a:xfrm>
          <a:prstGeom xmlns:a="http://schemas.openxmlformats.org/drawingml/2006/main" prst="roundRect">
            <a:avLst>
              <a:gd name="adj" fmla="val 28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6d5c8a08e64bf7"/>
          <a:stretch xmlns:a="http://schemas.openxmlformats.org/drawingml/2006/main"/>
        </p:blipFill>
        <p:spPr>
          <a:xfrm xmlns:a="http://schemas.openxmlformats.org/drawingml/2006/main">
            <a:off x="7602247" y="1333500"/>
            <a:ext cx="1140406" cy="24574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3425CC-7E12-4987-854E-7CD11F1D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390650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3786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3786A"/>
                </a:solidFill>
                <a:latin typeface="Arial"/>
                <a:ea typeface="Arial"/>
                <a:cs typeface="Arial"/>
              </a:rPr>
              <a:t>OPERASIONAL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CC2752-5564-40F4-A4A8-21F10EF2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66875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3A3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A30"/>
                </a:solidFill>
                <a:latin typeface="Arial"/>
                <a:ea typeface="Arial"/>
                <a:cs typeface="Arial"/>
              </a:rPr>
              <a:t>Pengingat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4B4B40-AFBB-4E19-B2E2-F11AD4666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33625"/>
            <a:ext cx="1895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D655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D655C"/>
                </a:solidFill>
                <a:latin typeface="Arial"/>
                <a:ea typeface="Arial"/>
                <a:cs typeface="Arial"/>
              </a:rPr>
              <a:t>Pantau pekerjaan, penanggung jawab, tenggat, dan status tindak lanjut.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1DC70D-6665-4DEB-AE3D-E547A1D3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1219200"/>
            <a:ext cx="3429000" cy="2686050"/>
          </a:xfrm>
          <a:prstGeom xmlns:a="http://schemas.openxmlformats.org/drawingml/2006/main" prst="roundRect">
            <a:avLst>
              <a:gd name="adj" fmla="val 28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aa4748e3f34234"/>
          <a:stretch xmlns:a="http://schemas.openxmlformats.org/drawingml/2006/main"/>
        </p:blipFill>
        <p:spPr>
          <a:xfrm xmlns:a="http://schemas.openxmlformats.org/drawingml/2006/main">
            <a:off x="11183647" y="1333500"/>
            <a:ext cx="1140406" cy="245745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F312E1-D646-4C21-8BB8-177D0BCC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1390650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3786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3786A"/>
                </a:solidFill>
                <a:latin typeface="Arial"/>
                <a:ea typeface="Arial"/>
                <a:cs typeface="Arial"/>
              </a:rPr>
              <a:t>OPERASIONAL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F9C727-95B0-431C-9F5E-6BC2599FE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1666875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3A3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A30"/>
                </a:solidFill>
                <a:latin typeface="Arial"/>
                <a:ea typeface="Arial"/>
                <a:cs typeface="Arial"/>
              </a:rPr>
              <a:t>Anggaran Operasional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86B02F-6B47-4B41-BD05-AC10A0D0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2333625"/>
            <a:ext cx="1895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D655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D655C"/>
                </a:solidFill>
                <a:latin typeface="Arial"/>
                <a:ea typeface="Arial"/>
                <a:cs typeface="Arial"/>
              </a:rPr>
              <a:t>Budget, aktual, sisa, realisasi bulanan, dan rincian pemakaian.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12E87B-1C8C-448C-B942-E7A556201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1219200"/>
            <a:ext cx="3429000" cy="2686050"/>
          </a:xfrm>
          <a:prstGeom xmlns:a="http://schemas.openxmlformats.org/drawingml/2006/main" prst="roundRect">
            <a:avLst>
              <a:gd name="adj" fmla="val 28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5ded15a3bc4a1b"/>
          <a:stretch xmlns:a="http://schemas.openxmlformats.org/drawingml/2006/main"/>
        </p:blipFill>
        <p:spPr>
          <a:xfrm xmlns:a="http://schemas.openxmlformats.org/drawingml/2006/main">
            <a:off x="14765047" y="1333500"/>
            <a:ext cx="1140406" cy="245745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CC2E57-176D-4028-AAFA-FA5E0F4E6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21050" y="1390650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3786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3786A"/>
                </a:solidFill>
                <a:latin typeface="Arial"/>
                <a:ea typeface="Arial"/>
                <a:cs typeface="Arial"/>
              </a:rPr>
              <a:t>OPERASIONAL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1C11F8-94B6-4C90-A00B-DA93FC70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21050" y="1666875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3A3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A30"/>
                </a:solidFill>
                <a:latin typeface="Arial"/>
                <a:ea typeface="Arial"/>
                <a:cs typeface="Arial"/>
              </a:rPr>
              <a:t>Permintaan Barang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1F5DB2-B7CF-4651-B5D6-25BFBCD7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21050" y="2333625"/>
            <a:ext cx="1895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D655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D655C"/>
                </a:solidFill>
                <a:latin typeface="Arial"/>
                <a:ea typeface="Arial"/>
                <a:cs typeface="Arial"/>
              </a:rPr>
              <a:t>Ajukan kebutuhan LV/Drilling dan pantau proses persetujuannya.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E54233-E8E6-4E03-9411-7B80DF84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076700"/>
            <a:ext cx="3429000" cy="2686050"/>
          </a:xfrm>
          <a:prstGeom xmlns:a="http://schemas.openxmlformats.org/drawingml/2006/main" prst="roundRect">
            <a:avLst>
              <a:gd name="adj" fmla="val 28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1d8ae86ef8470e"/>
          <a:stretch xmlns:a="http://schemas.openxmlformats.org/drawingml/2006/main"/>
        </p:blipFill>
        <p:spPr>
          <a:xfrm xmlns:a="http://schemas.openxmlformats.org/drawingml/2006/main">
            <a:off x="439447" y="4191000"/>
            <a:ext cx="1140406" cy="2457450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0241C0-3629-4546-B67F-EF17B24E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48150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3786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3786A"/>
                </a:solidFill>
                <a:latin typeface="Arial"/>
                <a:ea typeface="Arial"/>
                <a:cs typeface="Arial"/>
              </a:rPr>
              <a:t>OPERASIONAL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B484C2-6324-472B-8EB5-DB59694D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524375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3A3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A30"/>
                </a:solidFill>
                <a:latin typeface="Arial"/>
                <a:ea typeface="Arial"/>
                <a:cs typeface="Arial"/>
              </a:rPr>
              <a:t>Data PR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E971B8-748E-48C2-AB8C-83979635C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191125"/>
            <a:ext cx="1895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D655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D655C"/>
                </a:solidFill>
                <a:latin typeface="Arial"/>
                <a:ea typeface="Arial"/>
                <a:cs typeface="Arial"/>
              </a:rPr>
              <a:t>Cari PR/PO, deskripsi dan equipment, dengan filter periode rilis.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DDAA61B-AA96-4583-BE4F-F81C4DA4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076700"/>
            <a:ext cx="3429000" cy="2686050"/>
          </a:xfrm>
          <a:prstGeom xmlns:a="http://schemas.openxmlformats.org/drawingml/2006/main" prst="roundRect">
            <a:avLst>
              <a:gd name="adj" fmla="val 28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d2b86bb56441ed"/>
          <a:stretch xmlns:a="http://schemas.openxmlformats.org/drawingml/2006/main"/>
        </p:blipFill>
        <p:spPr>
          <a:xfrm xmlns:a="http://schemas.openxmlformats.org/drawingml/2006/main">
            <a:off x="4020847" y="4191000"/>
            <a:ext cx="1140406" cy="2457450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BE3DD39-2FEF-4403-90E9-E6552E73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248150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3786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3786A"/>
                </a:solidFill>
                <a:latin typeface="Arial"/>
                <a:ea typeface="Arial"/>
                <a:cs typeface="Arial"/>
              </a:rPr>
              <a:t>OPERASIONAL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6A2E1A1-D639-4EC4-B0FF-CEFC9ADCA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524375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3A3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A30"/>
                </a:solidFill>
                <a:latin typeface="Arial"/>
                <a:ea typeface="Arial"/>
                <a:cs typeface="Arial"/>
              </a:rPr>
              <a:t>Outstanding PM &amp; CM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5A8D21-3179-47A8-BF92-54C90524B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191125"/>
            <a:ext cx="1895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D655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D655C"/>
                </a:solidFill>
                <a:latin typeface="Arial"/>
                <a:ea typeface="Arial"/>
                <a:cs typeface="Arial"/>
              </a:rPr>
              <a:t>PM per crew CPP/PORT. CM per lokasi, dilengkapi pencarian progres.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147E478-AAB0-4AE9-BD2C-F2B8E39EB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076700"/>
            <a:ext cx="3429000" cy="2686050"/>
          </a:xfrm>
          <a:prstGeom xmlns:a="http://schemas.openxmlformats.org/drawingml/2006/main" prst="roundRect">
            <a:avLst>
              <a:gd name="adj" fmla="val 28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6d7279e5d34ad4"/>
          <a:stretch xmlns:a="http://schemas.openxmlformats.org/drawingml/2006/main"/>
        </p:blipFill>
        <p:spPr>
          <a:xfrm xmlns:a="http://schemas.openxmlformats.org/drawingml/2006/main">
            <a:off x="7602247" y="4191000"/>
            <a:ext cx="1140406" cy="245745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4D86E39-4ED5-444C-8382-98AB7F45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48150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3786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3786A"/>
                </a:solidFill>
                <a:latin typeface="Arial"/>
                <a:ea typeface="Arial"/>
                <a:cs typeface="Arial"/>
              </a:rPr>
              <a:t>OPERASIONAL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87D60F6-89D9-4F36-9952-1595493B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24375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3A3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A30"/>
                </a:solidFill>
                <a:latin typeface="Arial"/>
                <a:ea typeface="Arial"/>
                <a:cs typeface="Arial"/>
              </a:rPr>
              <a:t>Meeting Minutes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495E121-A4B7-4A65-AEC5-664986417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91125"/>
            <a:ext cx="1895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D655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D655C"/>
                </a:solidFill>
                <a:latin typeface="Arial"/>
                <a:ea typeface="Arial"/>
                <a:cs typeface="Arial"/>
              </a:rPr>
              <a:t>Catat isu, action plan, PIC, foto, serta ekspor Excel dan tindak lanjut.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35EB1D7-8211-4E79-AB8D-3511C879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076700"/>
            <a:ext cx="3429000" cy="2686050"/>
          </a:xfrm>
          <a:prstGeom xmlns:a="http://schemas.openxmlformats.org/drawingml/2006/main" prst="roundRect">
            <a:avLst>
              <a:gd name="adj" fmla="val 28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ad71155f694888"/>
          <a:stretch xmlns:a="http://schemas.openxmlformats.org/drawingml/2006/main"/>
        </p:blipFill>
        <p:spPr>
          <a:xfrm xmlns:a="http://schemas.openxmlformats.org/drawingml/2006/main">
            <a:off x="11183647" y="4191000"/>
            <a:ext cx="1140406" cy="2457450"/>
          </a:xfrm>
          <a:prstGeom xmlns:a="http://schemas.openxmlformats.org/drawingml/2006/main" prst="rect">
            <a:avLst/>
          </a:prstGeom>
        </p:spPr>
      </p:pic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7DD526E-2837-4BC6-999F-D81B42A51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4248150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3786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3786A"/>
                </a:solidFill>
                <a:latin typeface="Arial"/>
                <a:ea typeface="Arial"/>
                <a:cs typeface="Arial"/>
              </a:rPr>
              <a:t>REFERENSI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5B279E1-C809-4D54-8232-E09AA521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4524375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3A3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A30"/>
                </a:solidFill>
                <a:latin typeface="Arial"/>
                <a:ea typeface="Arial"/>
                <a:cs typeface="Arial"/>
              </a:rPr>
              <a:t>Gudang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7AEE760-BEEF-41FB-A82D-3DC8C67C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5191125"/>
            <a:ext cx="1895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D655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D655C"/>
                </a:solidFill>
                <a:latin typeface="Arial"/>
                <a:ea typeface="Arial"/>
                <a:cs typeface="Arial"/>
              </a:rPr>
              <a:t>Cari stok, harga, lokasi bin, dan alat menurut site.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8EA05DE-09E4-4872-8B85-6AC6D0870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4076700"/>
            <a:ext cx="3429000" cy="2686050"/>
          </a:xfrm>
          <a:prstGeom xmlns:a="http://schemas.openxmlformats.org/drawingml/2006/main" prst="roundRect">
            <a:avLst>
              <a:gd name="adj" fmla="val 28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32891543544742"/>
          <a:stretch xmlns:a="http://schemas.openxmlformats.org/drawingml/2006/main"/>
        </p:blipFill>
        <p:spPr>
          <a:xfrm xmlns:a="http://schemas.openxmlformats.org/drawingml/2006/main">
            <a:off x="14765047" y="4191000"/>
            <a:ext cx="1140406" cy="2457450"/>
          </a:xfrm>
          <a:prstGeom xmlns:a="http://schemas.openxmlformats.org/drawingml/2006/main" prst="rect">
            <a:avLst/>
          </a:prstGeom>
        </p:spPr>
      </p:pic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58279BE-5912-4DB0-AFDB-D9AF2666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21050" y="4248150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3786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3786A"/>
                </a:solidFill>
                <a:latin typeface="Arial"/>
                <a:ea typeface="Arial"/>
                <a:cs typeface="Arial"/>
              </a:rPr>
              <a:t>REFERENSI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1AC89F6-08D0-4C14-AF56-1CA733BB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21050" y="4524375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3A3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A30"/>
                </a:solidFill>
                <a:latin typeface="Arial"/>
                <a:ea typeface="Arial"/>
                <a:cs typeface="Arial"/>
              </a:rPr>
              <a:t>Pusat Dokumen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A0D3156-8B08-4D50-AE84-C3C28977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21050" y="5191125"/>
            <a:ext cx="1895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D655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D655C"/>
                </a:solidFill>
                <a:latin typeface="Arial"/>
                <a:ea typeface="Arial"/>
                <a:cs typeface="Arial"/>
              </a:rPr>
              <a:t>Tanya SOP/manual melalui AI atau buka folder dokumen langsung.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7C81B80-636D-4AC3-8B6C-651B67044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934200"/>
            <a:ext cx="3429000" cy="2686050"/>
          </a:xfrm>
          <a:prstGeom xmlns:a="http://schemas.openxmlformats.org/drawingml/2006/main" prst="roundRect">
            <a:avLst>
              <a:gd name="adj" fmla="val 28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1f68d85ab04feb"/>
          <a:stretch xmlns:a="http://schemas.openxmlformats.org/drawingml/2006/main"/>
        </p:blipFill>
        <p:spPr>
          <a:xfrm xmlns:a="http://schemas.openxmlformats.org/drawingml/2006/main">
            <a:off x="439447" y="7048500"/>
            <a:ext cx="1140406" cy="2457450"/>
          </a:xfrm>
          <a:prstGeom xmlns:a="http://schemas.openxmlformats.org/drawingml/2006/main" prst="rect">
            <a:avLst/>
          </a:prstGeom>
        </p:spPr>
      </p:pic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45776E7-A979-42F7-9D58-2D409B897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7105650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3786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3786A"/>
                </a:solidFill>
                <a:latin typeface="Arial"/>
                <a:ea typeface="Arial"/>
                <a:cs typeface="Arial"/>
              </a:rPr>
              <a:t>REFERENSI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B8F21EC-9E82-425E-9A1B-7DA2A90D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7381875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3A3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A30"/>
                </a:solidFill>
                <a:latin typeface="Arial"/>
                <a:ea typeface="Arial"/>
                <a:cs typeface="Arial"/>
              </a:rPr>
              <a:t>Cost Code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CA6FF68-D35A-4899-8545-2BFB0F4A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8048625"/>
            <a:ext cx="1895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D655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D655C"/>
                </a:solidFill>
                <a:latin typeface="Arial"/>
                <a:ea typeface="Arial"/>
                <a:cs typeface="Arial"/>
              </a:rPr>
              <a:t>Cari kode Site, Function, Pit/Plant, Activity, dan Expense. Manual PDF tersedia.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580780A-6859-43C2-89AB-DF5887B9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6934200"/>
            <a:ext cx="3429000" cy="2686050"/>
          </a:xfrm>
          <a:prstGeom xmlns:a="http://schemas.openxmlformats.org/drawingml/2006/main" prst="roundRect">
            <a:avLst>
              <a:gd name="adj" fmla="val 28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4c7c6baf204376"/>
          <a:stretch xmlns:a="http://schemas.openxmlformats.org/drawingml/2006/main"/>
        </p:blipFill>
        <p:spPr>
          <a:xfrm xmlns:a="http://schemas.openxmlformats.org/drawingml/2006/main">
            <a:off x="4020847" y="7048500"/>
            <a:ext cx="1140406" cy="2457450"/>
          </a:xfrm>
          <a:prstGeom xmlns:a="http://schemas.openxmlformats.org/drawingml/2006/main" prst="rect">
            <a:avLst/>
          </a:prstGeom>
        </p:spPr>
      </p:pic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90FB30E-B6B1-4790-815D-A893E63F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7105650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3786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3786A"/>
                </a:solidFill>
                <a:latin typeface="Arial"/>
                <a:ea typeface="Arial"/>
                <a:cs typeface="Arial"/>
              </a:rPr>
              <a:t>REFERENSI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D3C55AF-2CCA-4994-A9F2-9E2C1F76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7381875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3A3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A30"/>
                </a:solidFill>
                <a:latin typeface="Arial"/>
                <a:ea typeface="Arial"/>
                <a:cs typeface="Arial"/>
              </a:rPr>
              <a:t>Equipment Reference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4D6B38D-EC1E-4600-8209-5A43184B9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8048625"/>
            <a:ext cx="1895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D655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D655C"/>
                </a:solidFill>
                <a:latin typeface="Arial"/>
                <a:ea typeface="Arial"/>
                <a:cs typeface="Arial"/>
              </a:rPr>
              <a:t>Cari unit Asamasam/Kintap menurut kode, nama, tipe, atau account code.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FF447BE-3C2E-464F-9E10-057E07A89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934200"/>
            <a:ext cx="3429000" cy="2686050"/>
          </a:xfrm>
          <a:prstGeom xmlns:a="http://schemas.openxmlformats.org/drawingml/2006/main" prst="roundRect">
            <a:avLst>
              <a:gd name="adj" fmla="val 28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b9024712144e0b"/>
          <a:stretch xmlns:a="http://schemas.openxmlformats.org/drawingml/2006/main"/>
        </p:blipFill>
        <p:spPr>
          <a:xfrm xmlns:a="http://schemas.openxmlformats.org/drawingml/2006/main">
            <a:off x="7602247" y="7048500"/>
            <a:ext cx="1140406" cy="2457450"/>
          </a:xfrm>
          <a:prstGeom xmlns:a="http://schemas.openxmlformats.org/drawingml/2006/main" prst="rect">
            <a:avLst/>
          </a:prstGeom>
        </p:spPr>
      </p:pic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D41230D-8A53-4A4F-9822-60C528A4F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7105650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3786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3786A"/>
                </a:solidFill>
                <a:latin typeface="Arial"/>
                <a:ea typeface="Arial"/>
                <a:cs typeface="Arial"/>
              </a:rPr>
              <a:t>AKUN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32E22B8-6446-4312-85B7-3EC8F9B3C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7381875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3A3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A30"/>
                </a:solidFill>
                <a:latin typeface="Arial"/>
                <a:ea typeface="Arial"/>
                <a:cs typeface="Arial"/>
              </a:rPr>
              <a:t>Profil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AD45B5C-DA93-432F-A0B6-A2FD1E48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8048625"/>
            <a:ext cx="1895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D655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D655C"/>
                </a:solidFill>
                <a:latin typeface="Arial"/>
                <a:ea typeface="Arial"/>
                <a:cs typeface="Arial"/>
              </a:rPr>
              <a:t>Lihat peran dan cakupan site, ubah password, atau keluar dari akun.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1AEC7F3-2903-4620-8626-89E01067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934200"/>
            <a:ext cx="3429000" cy="2686050"/>
          </a:xfrm>
          <a:prstGeom xmlns:a="http://schemas.openxmlformats.org/drawingml/2006/main" prst="roundRect">
            <a:avLst>
              <a:gd name="adj" fmla="val 28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abbf0bb2ee40cf"/>
          <a:stretch xmlns:a="http://schemas.openxmlformats.org/drawingml/2006/main"/>
        </p:blipFill>
        <p:spPr>
          <a:xfrm xmlns:a="http://schemas.openxmlformats.org/drawingml/2006/main">
            <a:off x="11183647" y="7048500"/>
            <a:ext cx="1140406" cy="2457450"/>
          </a:xfrm>
          <a:prstGeom xmlns:a="http://schemas.openxmlformats.org/drawingml/2006/main" prst="rect">
            <a:avLst/>
          </a:prstGeom>
        </p:spPr>
      </p:pic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04CF0FF-25B4-40A8-802C-59A7D4CE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7105650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3786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3786A"/>
                </a:solidFill>
                <a:latin typeface="Arial"/>
                <a:ea typeface="Arial"/>
                <a:cs typeface="Arial"/>
              </a:rPr>
              <a:t>ADMINISTRASI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8B1CBF6-A200-483E-9940-91DFB970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7381875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3A3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A30"/>
                </a:solidFill>
                <a:latin typeface="Arial"/>
                <a:ea typeface="Arial"/>
                <a:cs typeface="Arial"/>
              </a:rPr>
              <a:t>Data Master &amp; Pengguna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1641AD5-C89A-4A74-9D6E-526391C6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8048625"/>
            <a:ext cx="1895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D655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D655C"/>
                </a:solidFill>
                <a:latin typeface="Arial"/>
                <a:ea typeface="Arial"/>
                <a:cs typeface="Arial"/>
              </a:rPr>
              <a:t>Lokasi, peralatan/titik ukur, batas suhu, template, shift, regu, jadwal, pengguna, dan ekspor.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52123F6-9F75-4AED-BAA4-32C4356B9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6934200"/>
            <a:ext cx="3429000" cy="2686050"/>
          </a:xfrm>
          <a:prstGeom xmlns:a="http://schemas.openxmlformats.org/drawingml/2006/main" prst="roundRect">
            <a:avLst>
              <a:gd name="adj" fmla="val 28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73313525a14e41"/>
          <a:stretch xmlns:a="http://schemas.openxmlformats.org/drawingml/2006/main"/>
        </p:blipFill>
        <p:spPr>
          <a:xfrm xmlns:a="http://schemas.openxmlformats.org/drawingml/2006/main">
            <a:off x="14765047" y="7048500"/>
            <a:ext cx="1140406" cy="2457450"/>
          </a:xfrm>
          <a:prstGeom xmlns:a="http://schemas.openxmlformats.org/drawingml/2006/main" prst="rect">
            <a:avLst/>
          </a:prstGeom>
        </p:spPr>
      </p:pic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FC25EB1-6376-4EC9-930F-8515C85C8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21050" y="7105650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3786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3786A"/>
                </a:solidFill>
                <a:latin typeface="Arial"/>
                <a:ea typeface="Arial"/>
                <a:cs typeface="Arial"/>
              </a:rPr>
              <a:t>BANTUAN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B0EA74A-9984-4F02-AC13-F7F5C673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21050" y="7381875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3A3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A30"/>
                </a:solidFill>
                <a:latin typeface="Arial"/>
                <a:ea typeface="Arial"/>
                <a:cs typeface="Arial"/>
              </a:rPr>
              <a:t>Panduan Pengguna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FCD4043-BAEA-4B40-A90B-4866B305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21050" y="8048625"/>
            <a:ext cx="1895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D655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D655C"/>
                </a:solidFill>
                <a:latin typeface="Arial"/>
                <a:ea typeface="Arial"/>
                <a:cs typeface="Arial"/>
              </a:rPr>
              <a:t>Petunjuk Suhu, Pengingat, Gudang, dan Profil. Unduh panduan PDF.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B32BE32-DF97-4ADD-9F7B-BE7494CC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934575"/>
            <a:ext cx="1581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D655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D655C"/>
                </a:solidFill>
                <a:latin typeface="Arial"/>
                <a:ea typeface="Arial"/>
                <a:cs typeface="Arial"/>
              </a:rPr>
              <a:t>Menu mengikuti hak akses akun. Screenshot website 13 September 2026.</a:t>
            </a:r>
          </a:p>
        </p:txBody>
      </p:sp>
    </p:spTree>
    <p:extLst>
      <p:ext uri="{BB962C8B-B14F-4D97-AF65-F5344CB8AC3E}">
        <p14:creationId xmlns:p14="http://schemas.microsoft.com/office/powerpoint/2010/main" val="8543920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2026-09-12T23:54:08.6340000Z</dcterms:created>
  <dcterms:modified xsi:type="dcterms:W3CDTF">2026-09-12T23:54:08.6340000Z</dcterms:modified>
</coreProperties>
</file>